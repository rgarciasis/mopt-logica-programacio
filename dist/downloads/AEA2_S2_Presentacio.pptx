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ac55fd0a248f5" /><Relationship Type="http://schemas.openxmlformats.org/officeDocument/2006/relationships/extended-properties" Target="/docProps/app.xml" Id="R9c48cd9a01544590" /><Relationship Type="http://schemas.openxmlformats.org/officeDocument/2006/relationships/officeDocument" Target="/ppt/presentation.xml" Id="Rc78f5825814149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728131722f4e03"/>
  </p:sldMasterIdLst>
  <p:notesMasterIdLst>
    <p:notesMasterId xmlns:r="http://schemas.openxmlformats.org/officeDocument/2006/relationships" r:id="R0b9fffa8b2f1454f"/>
  </p:notesMasterIdLst>
  <p:sldIdLst>
    <p:sldId xmlns:r="http://schemas.openxmlformats.org/officeDocument/2006/relationships" id="256" r:id="Rc63182e85c234768"/>
    <p:sldId xmlns:r="http://schemas.openxmlformats.org/officeDocument/2006/relationships" id="257" r:id="R874adcc88ef24380"/>
    <p:sldId xmlns:r="http://schemas.openxmlformats.org/officeDocument/2006/relationships" id="258" r:id="Ra7e720ae96324d5d"/>
    <p:sldId xmlns:r="http://schemas.openxmlformats.org/officeDocument/2006/relationships" id="259" r:id="R76715bd3511c41f3"/>
    <p:sldId xmlns:r="http://schemas.openxmlformats.org/officeDocument/2006/relationships" id="260" r:id="R8fa0622686344816"/>
    <p:sldId xmlns:r="http://schemas.openxmlformats.org/officeDocument/2006/relationships" id="261" r:id="Rc63105a5e108429a"/>
    <p:sldId xmlns:r="http://schemas.openxmlformats.org/officeDocument/2006/relationships" id="262" r:id="R08d130a4abf44078"/>
    <p:sldId xmlns:r="http://schemas.openxmlformats.org/officeDocument/2006/relationships" id="263" r:id="Rf76ad8d7c1a84160"/>
    <p:sldId xmlns:r="http://schemas.openxmlformats.org/officeDocument/2006/relationships" id="264" r:id="Rc2d61292fc164112"/>
    <p:sldId xmlns:r="http://schemas.openxmlformats.org/officeDocument/2006/relationships" id="265" r:id="Rd1fc62a1443047b7"/>
    <p:sldId xmlns:r="http://schemas.openxmlformats.org/officeDocument/2006/relationships" id="266" r:id="R63c31c71f39742db"/>
    <p:sldId xmlns:r="http://schemas.openxmlformats.org/officeDocument/2006/relationships" id="267" r:id="Redef94e58f454c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57cdc2b004469" /><Relationship Type="http://schemas.openxmlformats.org/officeDocument/2006/relationships/slideMaster" Target="/ppt/slideMasters/slideMaster1.xml" Id="R61728131722f4e03" /><Relationship Type="http://schemas.openxmlformats.org/officeDocument/2006/relationships/notesMaster" Target="/ppt/notesMasters/notesMaster1.xml" Id="R0b9fffa8b2f1454f" /><Relationship Type="http://schemas.openxmlformats.org/officeDocument/2006/relationships/presProps" Target="/ppt/presProps.xml" Id="R8d7cb04bd7bc4070" /><Relationship Type="http://schemas.openxmlformats.org/officeDocument/2006/relationships/tableStyles" Target="/ppt/tableStyles.xml" Id="R3e54b3b3144e493d" /><Relationship Type="http://schemas.openxmlformats.org/officeDocument/2006/relationships/slide" Target="/ppt/slides/slide1.xml" Id="Rc63182e85c234768" /><Relationship Type="http://schemas.openxmlformats.org/officeDocument/2006/relationships/slide" Target="/ppt/slides/slide2.xml" Id="R874adcc88ef24380" /><Relationship Type="http://schemas.openxmlformats.org/officeDocument/2006/relationships/slide" Target="/ppt/slides/slide3.xml" Id="Ra7e720ae96324d5d" /><Relationship Type="http://schemas.openxmlformats.org/officeDocument/2006/relationships/slide" Target="/ppt/slides/slide4.xml" Id="R76715bd3511c41f3" /><Relationship Type="http://schemas.openxmlformats.org/officeDocument/2006/relationships/slide" Target="/ppt/slides/slide5.xml" Id="R8fa0622686344816" /><Relationship Type="http://schemas.openxmlformats.org/officeDocument/2006/relationships/slide" Target="/ppt/slides/slide6.xml" Id="Rc63105a5e108429a" /><Relationship Type="http://schemas.openxmlformats.org/officeDocument/2006/relationships/slide" Target="/ppt/slides/slide7.xml" Id="R08d130a4abf44078" /><Relationship Type="http://schemas.openxmlformats.org/officeDocument/2006/relationships/slide" Target="/ppt/slides/slide8.xml" Id="Rf76ad8d7c1a84160" /><Relationship Type="http://schemas.openxmlformats.org/officeDocument/2006/relationships/slide" Target="/ppt/slides/slide9.xml" Id="Rc2d61292fc164112" /><Relationship Type="http://schemas.openxmlformats.org/officeDocument/2006/relationships/slide" Target="/ppt/slides/slide10.xml" Id="Rd1fc62a1443047b7" /><Relationship Type="http://schemas.openxmlformats.org/officeDocument/2006/relationships/slide" Target="/ppt/slides/slide11.xml" Id="R63c31c71f39742db" /><Relationship Type="http://schemas.openxmlformats.org/officeDocument/2006/relationships/slide" Target="/ppt/slides/slide12.xml" Id="Redef94e58f454c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2e49052bfe40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7dea4d6ea04cde" /><Relationship Type="http://schemas.openxmlformats.org/officeDocument/2006/relationships/notesMaster" Target="/ppt/notesMasters/notesMaster1.xml" Id="R4b1f2d1694104b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3c049d21a464f" /><Relationship Type="http://schemas.openxmlformats.org/officeDocument/2006/relationships/notesMaster" Target="/ppt/notesMasters/notesMaster1.xml" Id="R8e39d852168544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0b4e072565420f" /><Relationship Type="http://schemas.openxmlformats.org/officeDocument/2006/relationships/notesMaster" Target="/ppt/notesMasters/notesMaster1.xml" Id="R1d4566745a6e45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4c962841834aed" /><Relationship Type="http://schemas.openxmlformats.org/officeDocument/2006/relationships/notesMaster" Target="/ppt/notesMasters/notesMaster1.xml" Id="R9b320ce91f1b48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742ef60c484b2d" /><Relationship Type="http://schemas.openxmlformats.org/officeDocument/2006/relationships/notesMaster" Target="/ppt/notesMasters/notesMaster1.xml" Id="R215c14a638db47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125e8bdfaf4574" /><Relationship Type="http://schemas.openxmlformats.org/officeDocument/2006/relationships/notesMaster" Target="/ppt/notesMasters/notesMaster1.xml" Id="Rc2d990a2fef84a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510265e02e4570" /><Relationship Type="http://schemas.openxmlformats.org/officeDocument/2006/relationships/notesMaster" Target="/ppt/notesMasters/notesMaster1.xml" Id="R150d281e7e994e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aac506ddd44472" /><Relationship Type="http://schemas.openxmlformats.org/officeDocument/2006/relationships/notesMaster" Target="/ppt/notesMasters/notesMaster1.xml" Id="R9d88c28196cc4a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5fa73df4b34f22" /><Relationship Type="http://schemas.openxmlformats.org/officeDocument/2006/relationships/notesMaster" Target="/ppt/notesMasters/notesMaster1.xml" Id="Rb14a154ba73c45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05655d4f9f48e2" /><Relationship Type="http://schemas.openxmlformats.org/officeDocument/2006/relationships/notesMaster" Target="/ppt/notesMasters/notesMaster1.xml" Id="R1666f6f2385441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3bad461e344f6d" /><Relationship Type="http://schemas.openxmlformats.org/officeDocument/2006/relationships/notesMaster" Target="/ppt/notesMasters/notesMaster1.xml" Id="R570a05537bed4e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66b25b6ee2426f" /><Relationship Type="http://schemas.openxmlformats.org/officeDocument/2006/relationships/notesMaster" Target="/ppt/notesMasters/notesMaster1.xml" Id="Rae25d30173ea44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Avui no es tracta d’afegir moltes etiquetes, sinó de triar-les amb intenció.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https://developer.mozilla.org/en-US/docs/Web/HTML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el lliurable abans de començar. L’alumnat ha de saber què conservar i què lliurar.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https://developer.mozilla.org/en-US/docs/Learn_web_development/Core/Structuring_content/Structuring_documents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Comprova que tothom ha creat index_s1.html abans de continuar. Això facilita recuperar errors i comparar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Dibuixa la jerarquia com un índex. Un h3 depèn d’un h2; no és una manera ràpida de fer lletra més petita.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https://developer.mozilla.org/en-US/docs/Web/HTML/Reference/Elements/Heading_Elements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Llegeix frases breus i fes que l’alumnat aixequi una targeta h2 o p. Demana sempre el perquè.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https://developer.mozilla.org/en-US/docs/Web/HTML/Reference/Elements/Heading_Elements</a:t>
            </a:r>
          </a:p>
          <a:p xmlns:a="http://schemas.openxmlformats.org/drawingml/2006/main">
            <a:r>
              <a:t>- https://developer.mozilla.org/en-US/docs/Web/HTML/Reference/Elements/p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Contrasta significat i aparença. Negrita i cursiva poden ser efectes visuals, però aquestes etiquetes comuniquen significat.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https://developer.mozilla.org/en-US/docs/Web/HTML/Reference/Elements/strong</a:t>
            </a:r>
          </a:p>
          <a:p xmlns:a="http://schemas.openxmlformats.org/drawingml/2006/main">
            <a:r>
              <a:t>- https://developer.mozilla.org/en-US/docs/Web/HTML/Reference/Elements/em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Fes comparar un comentari útil amb «aquí hi ha un paràgraf». El comentari no apareix a la pàgina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https://developer.mozilla.org/en-US/docs/Web/HTML/Guides/Comments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Llegeix primer el significat del text. Després decideix etiquetes. No comencis per memoritzar la sintaxi.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https://developer.mozilla.org/en-US/docs/Learn_web_development/Core/Structuring_content/Structuring_documents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 el cicle una vegada. Si no hi ha canvis, comprova primer si han desat el fitxer correcte.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https://developer.mozilla.org/en-US/docs/Learn_web_development/Getting_started/Your_first_website/Creating_the_content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Projecte individual. Pots permetre consulta de la guia HTML. Fes una revisió ràpida entre iguals a la meitat del temps.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https://developer.mozilla.org/en-US/docs/Learn_web_development/Core/Structuring_content/Structuring_documents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Fes que treballin per parelles. Primer encerclen els errors en paper o els anoten; només després obren el fitxer i el corregeixen.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https://developer.mozilla.org/en-US/docs/Learn_web_development/Core/Structuring_content/Debugging_HTML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Abans de comprimir, comproven que index.html s’obre i que index_s1.html queda com a còpia local. El ZIP només inclou els dos fitxers demanats.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https://developer.mozilla.org/en-US/docs/Learn_web_development/Core/Structuring_content/Structuring_documents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36ec763994f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94f7a6413548ea" /><Relationship Type="http://schemas.openxmlformats.org/officeDocument/2006/relationships/slideLayout" Target="/ppt/slideLayouts/slideLayout1.xml" Id="Rd8960111f4db4a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960111f4db4a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05fda61a04038" /><Relationship Type="http://schemas.openxmlformats.org/officeDocument/2006/relationships/notesSlide" Target="/ppt/notesSlides/notesSlide1.xml" Id="R9b829fdd6ac3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2c92eb84b4e36" /><Relationship Type="http://schemas.openxmlformats.org/officeDocument/2006/relationships/notesSlide" Target="/ppt/notesSlides/notesSlide2.xml" Id="Rd944e2a4f0f74b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da0b7654f4f00" /><Relationship Type="http://schemas.openxmlformats.org/officeDocument/2006/relationships/notesSlide" Target="/ppt/notesSlides/notesSlide3.xml" Id="Rf0b559d8bf6141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ed866f800493d" /><Relationship Type="http://schemas.openxmlformats.org/officeDocument/2006/relationships/notesSlide" Target="/ppt/notesSlides/notesSlide4.xml" Id="R3e7b23343f8c41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bbfd94d4d4add" /><Relationship Type="http://schemas.openxmlformats.org/officeDocument/2006/relationships/notesSlide" Target="/ppt/notesSlides/notesSlide5.xml" Id="Ra47df816546244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f688cf9a84a95" /><Relationship Type="http://schemas.openxmlformats.org/officeDocument/2006/relationships/notesSlide" Target="/ppt/notesSlides/notesSlide6.xml" Id="R7aa20015f3424d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f1134d50744eb" /><Relationship Type="http://schemas.openxmlformats.org/officeDocument/2006/relationships/notesSlide" Target="/ppt/notesSlides/notesSlide7.xml" Id="R5f530048ef6d49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4301e0eaa4b51" /><Relationship Type="http://schemas.openxmlformats.org/officeDocument/2006/relationships/notesSlide" Target="/ppt/notesSlides/notesSlide8.xml" Id="R81bee7df15ba4e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6a84343034e64" /><Relationship Type="http://schemas.openxmlformats.org/officeDocument/2006/relationships/notesSlide" Target="/ppt/notesSlides/notesSlide9.xml" Id="Raea939fc7ebf4b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0925c3f2f4d2d" /><Relationship Type="http://schemas.openxmlformats.org/officeDocument/2006/relationships/notesSlide" Target="/ppt/notesSlides/notesSlide10.xml" Id="R3ee5e4c3d36349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511be041b4d2d" /><Relationship Type="http://schemas.openxmlformats.org/officeDocument/2006/relationships/notesSlide" Target="/ppt/notesSlides/notesSlide11.xml" Id="Re4c21764b43b43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e63a1811b4fde" /><Relationship Type="http://schemas.openxmlformats.org/officeDocument/2006/relationships/notesSlide" Target="/ppt/notesSlides/notesSlide12.xml" Id="R0f555db4f51644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C9B0C-A881-4885-A294-2D245CF7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C4AA2-D7CE-49FB-949C-9FBA6795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6CDD2-7523-48C5-9D6B-4E23A960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JERARQUIA 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505FA-F4D6-402F-9CE7-502418C0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7D0"/>
                </a:solidFill>
              </a:defRPr>
            </a:pPr>
            <a:r>
              <a:rPr sz="1125" b="1">
                <a:solidFill>
                  <a:srgbClr val="25D7D0"/>
                </a:solidFill>
              </a:rPr>
              <a:t>AEA2 · SESSIÓ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6E8E0-151B-4650-8B0F-B5D50CD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Dona sentit al contingut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291C5-1B92-442D-9D06-E312B4D1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CE3"/>
                </a:solidFill>
              </a:defRPr>
            </a:pPr>
            <a:r>
              <a:rPr sz="1875" b="0">
                <a:solidFill>
                  <a:srgbClr val="D7DCE3"/>
                </a:solidFill>
              </a:rPr>
              <a:t>Passa d’un munt de text a una pàgina amb jerarquia, significat i una estructura que es pugui entendre.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B9538-7846-4DC2-ADBC-386E3787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714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400" b="1">
                <a:solidFill>
                  <a:srgbClr val="10151D"/>
                </a:solidFill>
              </a:defRPr>
            </a:pPr>
            <a:r>
              <a:rPr sz="11400" b="1">
                <a:solidFill>
                  <a:srgbClr val="10151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A43D5-7781-47B5-B643-F6FB28BD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51D"/>
                </a:solidFill>
              </a:defRPr>
            </a:pPr>
            <a:r>
              <a:rPr sz="1125" b="1">
                <a:solidFill>
                  <a:srgbClr val="10151D"/>
                </a:solidFill>
              </a:rPr>
              <a:t>LÒGICA I PROGRAMACIÓ</a:t>
            </a:r>
          </a:p>
        </p:txBody>
      </p:sp>
    </p:spTree>
    <p:extLst>
      <p:ext uri="{BB962C8B-B14F-4D97-AF65-F5344CB8AC3E}">
        <p14:creationId xmlns:p14="http://schemas.microsoft.com/office/powerpoint/2010/main" val="1219189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F1022-8774-44E7-883B-594A0013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D599E-9948-4168-AC95-D34EBD7F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MISSIÓ I LLIURABLE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AAD1B-A23D-4C60-9EE0-DCB1FECC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Millora el teu index.html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D46C0-83E6-4718-B299-91D332D2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98985-A96A-4644-BA03-44CD69DF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811C8-A284-43E4-9EA8-80B4F8DC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79EBB-3B30-4FB8-BEED-8947CB5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5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81A61-31B5-4C06-9241-7F2BF170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6743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Transforma text solt en contingut ben organitzat.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DA09F-017C-4886-84B9-10076722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0673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336F1-E62F-4B7F-B0E1-DCD3D995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33400" cy="14859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DE5DD-5836-488A-8F9D-CEB31626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28E66-8D41-4E39-973D-8D55DCEB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413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FITXER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D8016-092C-498D-9184-CB11815C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133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index.html amb títol, seccions, paràgrafs, èmfasi i comentaris útils.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6455D-165E-4B9D-8750-10A69A5B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55054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1FB92-3512-405D-961C-456F5333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533400" cy="14859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F004E-FDFD-4DBD-B5BE-472BA2A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81798-FF2C-4D9D-93A2-A2ACDAB0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REGISTRE BREU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EDE2E-7474-4D78-994A-F6A93482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Tres decisions explicades amb una frase cadascuna.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36B24-CC45-4C50-909F-3DD63239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29250"/>
            <a:ext cx="434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19483-02C6-4A06-9C1B-1537C8A6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768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1 ZIP · 2 FITXERS · 1 PRODUCTE</a:t>
            </a:r>
          </a:p>
        </p:txBody>
      </p:sp>
    </p:spTree>
    <p:extLst>
      <p:ext uri="{BB962C8B-B14F-4D97-AF65-F5344CB8AC3E}">
        <p14:creationId xmlns:p14="http://schemas.microsoft.com/office/powerpoint/2010/main" val="438095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0A5CF-0C37-4AF2-BA63-F05903D8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680A4-3D89-4DC9-93F5-84A03670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PROTEGEIX EL QUE JA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D70C8-82D9-43F4-B68A-6C1F3125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Primer, fes una còpia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CE607-E8CD-48C6-AC38-7E3D7E6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3A6F0-146D-4D58-B715-CECF1B12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786D8-74B7-4C7F-8ECC-74EABFA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41842-9143-4104-BDD4-D95EB6A5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8006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5D9D4-FE4B-4062-BBAB-1885519F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5CFF"/>
                </a:solidFill>
              </a:defRPr>
            </a:pPr>
            <a:r>
              <a:rPr sz="1200" b="1">
                <a:solidFill>
                  <a:srgbClr val="6E5CFF"/>
                </a:solidFill>
              </a:rPr>
              <a:t>ABANS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DA92B-CDD0-4F4D-9098-DA79137B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38862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14730-3C08-45C2-9F97-D277524E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F2175-F98A-41D8-8447-5067C5B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3429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projecte/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 index.html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6C854-C90E-4800-A03E-01397E53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17D"/>
                </a:solidFill>
              </a:defRPr>
            </a:pPr>
            <a:r>
              <a:rPr sz="1350" b="1">
                <a:solidFill>
                  <a:srgbClr val="68717D"/>
                </a:solidFill>
              </a:rPr>
              <a:t>Duplica el fitxer.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B98A8-5522-483F-AF56-B67C8CE1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908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D7D0"/>
                </a:solidFill>
              </a:defRPr>
            </a:pPr>
            <a:r>
              <a:rPr sz="3600" b="1">
                <a:solidFill>
                  <a:srgbClr val="25D7D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2A41C-DAD3-4706-B23A-EE8EC6C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0292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4B22D-6286-4B9A-BF3B-A8FB724E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7D0"/>
                </a:solidFill>
              </a:defRPr>
            </a:pPr>
            <a:r>
              <a:rPr sz="1200" b="1">
                <a:solidFill>
                  <a:srgbClr val="25D7D0"/>
                </a:solidFill>
              </a:rPr>
              <a:t>DESPRÉS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1B2BA-73AD-4778-86BB-66AA1C65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67000"/>
            <a:ext cx="41148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BDA20-717C-47DA-9680-D598F544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67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6F3A8-753D-4860-A65B-5A1B26B3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76550"/>
            <a:ext cx="3657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projecte/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index.html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 index_s1.html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4129E-2D9A-4EDF-9E56-013B51A1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Edita només index.html.</a:t>
            </a:r>
          </a:p>
        </p:txBody>
      </p:sp>
    </p:spTree>
    <p:extLst>
      <p:ext uri="{BB962C8B-B14F-4D97-AF65-F5344CB8AC3E}">
        <p14:creationId xmlns:p14="http://schemas.microsoft.com/office/powerpoint/2010/main" val="1051246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5F3A2-508A-434D-B6A9-B9CD5886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309AB-6186-4847-8447-4CD5E3F4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JERARQUIA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752AA-CE03-4672-A70A-15CD6FA7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Els encapçalaments expliquen l’esquelet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89AA1-9AD6-439C-8E39-EBF6EF65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9026E-7584-485B-B692-91D40580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8AD3A-2825-4867-A038-7797BBD5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CE130-9260-440A-938D-ADFAE8C6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4671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5D7ED-0378-4B84-BAC8-5182FCE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5CFF"/>
                </a:solidFill>
              </a:defRPr>
            </a:pPr>
            <a:r>
              <a:rPr sz="3000" b="1">
                <a:solidFill>
                  <a:srgbClr val="6E5CFF"/>
                </a:solidFill>
              </a:rPr>
              <a:t>h1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A755D-DBF3-4806-9BB6-F0F3F49A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90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51D"/>
                </a:solidFill>
              </a:defRPr>
            </a:pPr>
            <a:r>
              <a:rPr sz="2100" b="1">
                <a:solidFill>
                  <a:srgbClr val="10151D"/>
                </a:solidFill>
              </a:rPr>
              <a:t>Nom principal de la pàgina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0FD54-E82F-4777-BE1E-9E19CBA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89736-A898-48EF-A23D-96580E7D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051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D7D0"/>
                </a:solidFill>
              </a:defRPr>
            </a:pPr>
            <a:r>
              <a:rPr sz="2550" b="1">
                <a:solidFill>
                  <a:srgbClr val="25D7D0"/>
                </a:solidFill>
              </a:rPr>
              <a:t>h2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DFFC7-65AD-473D-818F-9143CD2D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51D"/>
                </a:solidFill>
              </a:defRPr>
            </a:pPr>
            <a:r>
              <a:rPr sz="1875" b="1">
                <a:solidFill>
                  <a:srgbClr val="10151D"/>
                </a:solidFill>
              </a:rPr>
              <a:t>Seccions principals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3CFDD-5A78-4736-B9C8-ECE6203F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ABA9D-73CC-4B07-BD04-7CA3D8DD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576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9F43"/>
                </a:solidFill>
              </a:defRPr>
            </a:pPr>
            <a:r>
              <a:rPr sz="2175" b="1">
                <a:solidFill>
                  <a:srgbClr val="FF9F43"/>
                </a:solidFill>
              </a:rPr>
              <a:t>h3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AC8FB-1422-4149-9FBB-51706B07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51D"/>
                </a:solidFill>
              </a:defRPr>
            </a:pPr>
            <a:r>
              <a:rPr sz="1725" b="1">
                <a:solidFill>
                  <a:srgbClr val="10151D"/>
                </a:solidFill>
              </a:rPr>
              <a:t>Subseccions dins d’un h2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F8363-25B6-4592-BDFF-71BEEC8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67350"/>
            <a:ext cx="472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0FEF1-5280-46F1-ACD0-794F7602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1497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NO TRIÏS EL NÚMERO PER LA MIDA</a:t>
            </a:r>
          </a:p>
        </p:txBody>
      </p:sp>
    </p:spTree>
    <p:extLst>
      <p:ext uri="{BB962C8B-B14F-4D97-AF65-F5344CB8AC3E}">
        <p14:creationId xmlns:p14="http://schemas.microsoft.com/office/powerpoint/2010/main" val="580108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44E09-6AA0-4CFD-B1DC-C2D39B29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8E731-908E-4827-AF00-7A98CE1F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DECIDEIX PEL SIGNIFICAT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E68AA-4338-4144-93DB-4AC68C7F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És un títol o és una explicació?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01549-0407-4227-B830-A44ADBEA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04624-0053-412B-AB1A-E4D3587D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11D64-AA2D-4742-A402-A6C970F8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C179B-82AB-4248-8A51-8E751BD3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FAD42-AA78-464C-8F0D-3408E3E0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E5CFF"/>
                </a:solidFill>
              </a:defRPr>
            </a:pPr>
            <a:r>
              <a:rPr sz="3150" b="1">
                <a:solidFill>
                  <a:srgbClr val="6E5CFF"/>
                </a:solidFill>
              </a:rPr>
              <a:t>h2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B7B40-AC08-4138-A17F-504C0B71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51D"/>
                </a:solidFill>
              </a:defRPr>
            </a:pPr>
            <a:r>
              <a:rPr sz="2025" b="1">
                <a:solidFill>
                  <a:srgbClr val="10151D"/>
                </a:solidFill>
              </a:rPr>
              <a:t>Obre una secció nova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135DB-9D22-4C4E-865C-F136E71B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4038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17D"/>
                </a:solidFill>
              </a:defRPr>
            </a:pPr>
            <a:r>
              <a:rPr sz="1650" b="0">
                <a:solidFill>
                  <a:srgbClr val="68717D"/>
                </a:solidFill>
              </a:rPr>
              <a:t>Podria aparèixer a l’índex de la pàgina.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A91CC-6772-410F-A175-9FCE762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54292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E271D-2D82-4E1B-BF73-86D0E3E9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D7D0"/>
                </a:solidFill>
              </a:defRPr>
            </a:pPr>
            <a:r>
              <a:rPr sz="3150" b="1">
                <a:solidFill>
                  <a:srgbClr val="25D7D0"/>
                </a:solidFill>
              </a:rPr>
              <a:t>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37312-FFA4-44EE-A632-36E0F096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51D"/>
                </a:solidFill>
              </a:defRPr>
            </a:pPr>
            <a:r>
              <a:rPr sz="2025" b="1">
                <a:solidFill>
                  <a:srgbClr val="10151D"/>
                </a:solidFill>
              </a:rPr>
              <a:t>Desenvolupa una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2BBF3-FE8F-4379-A22B-2549C3A6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419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17D"/>
                </a:solidFill>
              </a:defRPr>
            </a:pPr>
            <a:r>
              <a:rPr sz="1650" b="0">
                <a:solidFill>
                  <a:srgbClr val="68717D"/>
                </a:solidFill>
              </a:rPr>
              <a:t>És una frase o un fragment de text explicatiu.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5BEC8-C847-44FF-9E2A-7CB6C4C6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67350"/>
            <a:ext cx="5448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931D8-F4B5-4E3E-86A9-D0B59FE1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514975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PREGUNTA: QUINA FUNCIÓ FA AQUEST TEXT?</a:t>
            </a:r>
          </a:p>
        </p:txBody>
      </p:sp>
    </p:spTree>
    <p:extLst>
      <p:ext uri="{BB962C8B-B14F-4D97-AF65-F5344CB8AC3E}">
        <p14:creationId xmlns:p14="http://schemas.microsoft.com/office/powerpoint/2010/main" val="1664489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F3830-5C46-4A0A-A3E6-5B4186E8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0A3F-7C3E-4EF4-A739-24E88CEE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ÈMFASI AMB SENTIT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FF01-5E82-476C-8051-AF7F88C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strong i em no són decoració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5EE14-2942-4552-99B2-795BBEBD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0C380-76DD-4F54-99D8-64B1C1E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14784-47C9-4C98-AB25-074A5424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AC67F-EAE5-4D63-BB4B-EE01C9AF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7009F-C153-4641-9F99-B993D2F4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8E11E-E788-4D6B-8EBF-7C823DB8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36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&lt;p&gt;Entrega el projecte &lt;strong&gt;abans de les 12&lt;/strong&gt;.&lt;/p&gt;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7DB06-2767-4C52-834D-1ACC231C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E5CFF"/>
                </a:solidFill>
              </a:defRPr>
            </a:pPr>
            <a:r>
              <a:rPr sz="2550" b="1">
                <a:solidFill>
                  <a:srgbClr val="6E5CFF"/>
                </a:solidFill>
              </a:rPr>
              <a:t>strong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7F1BF-FEF9-4542-B15B-2CD186B8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04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51D"/>
                </a:solidFill>
              </a:defRPr>
            </a:pPr>
            <a:r>
              <a:rPr sz="1800" b="1">
                <a:solidFill>
                  <a:srgbClr val="10151D"/>
                </a:solidFill>
              </a:rPr>
              <a:t>Importància especial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01811-FEA5-4103-B5CE-7150701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6885C-F7EA-4538-9E17-8CC0DB5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42B00-53FF-4233-8398-665C35D8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036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&lt;p&gt;Jo he dit &lt;em&gt;estructura&lt;/em&gt;, no color.&lt;/p&gt;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FCD23-813B-42E6-B9D2-597F2D57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D7D0"/>
                </a:solidFill>
              </a:defRPr>
            </a:pPr>
            <a:r>
              <a:rPr sz="2550" b="1">
                <a:solidFill>
                  <a:srgbClr val="25D7D0"/>
                </a:solidFill>
              </a:rPr>
              <a:t>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5BAFE-F286-42CC-A9D2-8A1999B9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387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51D"/>
                </a:solidFill>
              </a:defRPr>
            </a:pPr>
            <a:r>
              <a:rPr sz="1800" b="1">
                <a:solidFill>
                  <a:srgbClr val="10151D"/>
                </a:solidFill>
              </a:rPr>
              <a:t>Èmfasi en la manera de dir-ho</a:t>
            </a:r>
          </a:p>
        </p:txBody>
      </p:sp>
    </p:spTree>
    <p:extLst>
      <p:ext uri="{BB962C8B-B14F-4D97-AF65-F5344CB8AC3E}">
        <p14:creationId xmlns:p14="http://schemas.microsoft.com/office/powerpoint/2010/main" val="1303524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A8497-B64D-4726-98A9-3BE46BC6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ABAC0-B8AA-46CE-93CD-7206260D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COMENTARIS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70FA6-F634-40C3-91F4-856B21AC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Una nota per a qui llegeix el codi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E06D7-1FD2-468F-9D7F-AA26D2E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E49C9-7AA4-4521-86B7-62738C4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72E11-AF16-47AF-97A6-8DCD29A4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CFED3-50E8-4BF3-9A48-FD882E7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191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7B12C-E7B6-4D4C-B9C9-D2DCEC76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30310-CEBB-4D0F-92A7-3BC2D1C2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5734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&lt;!-- Inici de la secció de contacte --&gt;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&lt;section&gt;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...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&lt;/section&gt;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24BDF-6589-4CBE-A3B0-133C7ED9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71650"/>
            <a:ext cx="43243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81E64-5D87-4718-86C4-A7CFD3EA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D7D0"/>
                </a:solidFill>
              </a:defRPr>
            </a:pPr>
            <a:r>
              <a:rPr sz="2250" b="1">
                <a:solidFill>
                  <a:srgbClr val="25D7D0"/>
                </a:solidFill>
              </a:rPr>
              <a:t>SÍ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B936A-FCFF-4FC6-A086-DE88813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51D"/>
                </a:solidFill>
              </a:defRPr>
            </a:pPr>
            <a:r>
              <a:rPr sz="1575" b="0">
                <a:solidFill>
                  <a:srgbClr val="10151D"/>
                </a:solidFill>
              </a:rPr>
              <a:t>Explica una decisió</a:t>
            </a:r>
          </a:p>
          <a:p xmlns:a="http://schemas.openxmlformats.org/drawingml/2006/main">
            <a:pPr algn="l">
              <a:defRPr sz="1575" b="0">
                <a:solidFill>
                  <a:srgbClr val="10151D"/>
                </a:solidFill>
              </a:defRPr>
            </a:pPr>
            <a:r>
              <a:rPr sz="1575" b="0">
                <a:solidFill>
                  <a:srgbClr val="10151D"/>
                </a:solidFill>
              </a:rPr>
              <a:t>Marca una zona complexa</a:t>
            </a:r>
          </a:p>
          <a:p xmlns:a="http://schemas.openxmlformats.org/drawingml/2006/main">
            <a:pPr algn="l">
              <a:defRPr sz="1575" b="0">
                <a:solidFill>
                  <a:srgbClr val="10151D"/>
                </a:solidFill>
              </a:defRPr>
            </a:pPr>
            <a:r>
              <a:rPr sz="1575" b="0">
                <a:solidFill>
                  <a:srgbClr val="10151D"/>
                </a:solidFill>
              </a:rPr>
              <a:t>Deixa un recordatori útil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7F416-3FB5-4BD8-A7DA-530C072C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F87A2-4CC8-49CE-A10D-6A49A13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33400" cy="1047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74362-BDBC-4E2C-9A8D-F3906470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80B60-CF79-4651-8A78-0270A42A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88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EVITA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B9C1B-6962-4A6C-8DE2-91740BB3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Comentaris que només repeteixen exactament el nom de l’etiqueta.</a:t>
            </a:r>
          </a:p>
        </p:txBody>
      </p:sp>
    </p:spTree>
    <p:extLst>
      <p:ext uri="{BB962C8B-B14F-4D97-AF65-F5344CB8AC3E}">
        <p14:creationId xmlns:p14="http://schemas.microsoft.com/office/powerpoint/2010/main" val="1375557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2583E-ACDA-45DF-8338-C56703B3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BC88A-0488-4F37-BB2F-4BAAEE1B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0B5AE-060C-4D7D-AC41-3D6C611E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Del text solt a una estructura clara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AB91C-CE01-4C02-B150-524BB831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88F70-A674-4FAB-8EEB-55080B1F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2197B-59A6-4042-B614-6D44C4E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10548-C117-459F-B0E6-BA9DECF9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70691-5F6B-4A93-9A3F-D540805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F43"/>
                </a:solidFill>
              </a:defRPr>
            </a:pPr>
            <a:r>
              <a:rPr sz="1200" b="1">
                <a:solidFill>
                  <a:srgbClr val="FF9F43"/>
                </a:solidFill>
              </a:rPr>
              <a:t>ABANS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2125A-CD00-4C7E-B7D8-4503341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51D"/>
                </a:solidFill>
              </a:defRPr>
            </a:pPr>
            <a:r>
              <a:rPr sz="1950" b="1">
                <a:solidFill>
                  <a:srgbClr val="10151D"/>
                </a:solidFill>
              </a:rPr>
              <a:t>PIXELFEST</a:t>
            </a:r>
          </a:p>
          <a:p xmlns:a="http://schemas.openxmlformats.org/drawingml/2006/main">
            <a:pPr algn="l">
              <a:defRPr sz="1950" b="1">
                <a:solidFill>
                  <a:srgbClr val="10151D"/>
                </a:solidFill>
              </a:defRPr>
            </a:pPr>
            <a:r>
              <a:rPr sz="1950" b="1">
                <a:solidFill>
                  <a:srgbClr val="10151D"/>
                </a:solidFill>
              </a:rPr>
              <a:t>Un festival digital</a:t>
            </a:r>
          </a:p>
          <a:p xmlns:a="http://schemas.openxmlformats.org/drawingml/2006/main">
            <a:pPr algn="l">
              <a:defRPr sz="1950" b="1">
                <a:solidFill>
                  <a:srgbClr val="10151D"/>
                </a:solidFill>
              </a:defRPr>
            </a:pPr>
            <a:r>
              <a:rPr sz="1950" b="1">
                <a:solidFill>
                  <a:srgbClr val="10151D"/>
                </a:solidFill>
              </a:rPr>
              <a:t>Tallers</a:t>
            </a:r>
          </a:p>
          <a:p xmlns:a="http://schemas.openxmlformats.org/drawingml/2006/main">
            <a:pPr algn="l">
              <a:defRPr sz="1950" b="1">
                <a:solidFill>
                  <a:srgbClr val="10151D"/>
                </a:solidFill>
              </a:defRPr>
            </a:pPr>
            <a:r>
              <a:rPr sz="1950" b="1">
                <a:solidFill>
                  <a:srgbClr val="10151D"/>
                </a:solidFill>
              </a:rPr>
              <a:t>Aprèn HTML</a:t>
            </a:r>
          </a:p>
          <a:p xmlns:a="http://schemas.openxmlformats.org/drawingml/2006/main">
            <a:pPr algn="l">
              <a:defRPr sz="1950" b="1">
                <a:solidFill>
                  <a:srgbClr val="10151D"/>
                </a:solidFill>
              </a:defRPr>
            </a:pPr>
            <a:r>
              <a:rPr sz="1950" b="1">
                <a:solidFill>
                  <a:srgbClr val="10151D"/>
                </a:solidFill>
              </a:rPr>
              <a:t>Horaris</a:t>
            </a:r>
          </a:p>
          <a:p xmlns:a="http://schemas.openxmlformats.org/drawingml/2006/main">
            <a:pPr algn="l">
              <a:defRPr sz="1950" b="1">
                <a:solidFill>
                  <a:srgbClr val="10151D"/>
                </a:solidFill>
              </a:defRPr>
            </a:pPr>
            <a:r>
              <a:rPr sz="1950" b="1">
                <a:solidFill>
                  <a:srgbClr val="10151D"/>
                </a:solidFill>
              </a:rPr>
              <a:t>Matí i tarda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2595D-BA4B-405D-B040-AC45E0D7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051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5D7D0"/>
                </a:solidFill>
              </a:defRPr>
            </a:pPr>
            <a:r>
              <a:rPr sz="3900" b="1">
                <a:solidFill>
                  <a:srgbClr val="25D7D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11E9E-E3AD-41AC-BE2A-3E6B98B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9911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B3A27-137B-49F7-ADBA-AEAABC4B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68473-8238-4131-9B38-B21E1561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62150"/>
            <a:ext cx="45339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&lt;h1&gt;PixelFest&lt;/h1&gt;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&lt;p&gt;Un festival digital&lt;/p&gt;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&lt;h2&gt;Tallers&lt;/h2&gt;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&lt;p&gt;Aprèn HTML&lt;/p&gt;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&lt;h2&gt;Horaris&lt;/h2&gt;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&lt;p&gt;Matí i tarda&lt;/p&gt;</a:t>
            </a:r>
          </a:p>
        </p:txBody>
      </p:sp>
    </p:spTree>
    <p:extLst>
      <p:ext uri="{BB962C8B-B14F-4D97-AF65-F5344CB8AC3E}">
        <p14:creationId xmlns:p14="http://schemas.microsoft.com/office/powerpoint/2010/main" val="1061032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BD1A55-02BC-47A5-A211-D12ABFD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10813-5986-44D1-A235-F32ED2B4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B7850-B494-46E6-9427-73289F9F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Canvia una cosa. Prediu. Executa.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3AD50-6FC3-4EBB-B0E3-40DF94E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52A79-F8A0-492A-897A-9A14B80F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2B435-1597-4641-B26B-C34CAAAD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78953-0471-45D2-A35D-2F00C834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428875" cy="2781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3361-10DD-4ADF-A037-9DB72E0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33400" cy="27813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487E6-78BE-4AD8-995D-8473EEBC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EFBBA-6CEB-4C93-91CA-D3B5ACDD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1930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CANVIA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379A4-B0B8-40CD-B14F-9BE98F1E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14954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Afegeix o modifica una etiqueta.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C8F9A-0F43-4A00-AA53-DA636F3C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2428875" cy="2781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881D3-120D-4E74-8B71-0B9DBA65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533400" cy="27813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78190-F582-4B15-A2CB-772260E7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19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02805-5E2B-4205-9DBF-A6146E06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1930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PREDIU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485B6-D12F-4F4C-BB42-B3430311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19350"/>
            <a:ext cx="14954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Escriu què creus que passarà.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3AD83-3523-4D91-8039-59381FC0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2428875" cy="2781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74368-8BAC-40A0-9B21-5439C51B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533400" cy="27813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4D174-4E64-4C7B-AC8B-B2A0AD27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FCA09-1899-4100-971B-8AB2B788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EXECUTA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CEDA0-F1C6-496E-A052-DEEB7BC0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14954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Desa i recarrega el navegador.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70CF6-68B0-42AE-8168-F78E1AE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47850"/>
            <a:ext cx="2428875" cy="27813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CA5E6-FDE4-4AF5-A45F-C0370CD9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47850"/>
            <a:ext cx="533400" cy="27813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9E865-F6CD-49EC-9DDA-4B6578A2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19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03E4F-BA25-4040-B9AB-5275A1FF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1930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EXPLICA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60762-9F7E-4E46-8CD3-D2353FDD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19350"/>
            <a:ext cx="14954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Compara resultat i predicció.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45B07D-B85D-4F90-8AA9-DE178188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24450"/>
            <a:ext cx="487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5C918-9D7F-4C16-90FD-462F4966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720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CTRL+S → NAVEGADOR → CTRL+R</a:t>
            </a:r>
          </a:p>
        </p:txBody>
      </p:sp>
    </p:spTree>
    <p:extLst>
      <p:ext uri="{BB962C8B-B14F-4D97-AF65-F5344CB8AC3E}">
        <p14:creationId xmlns:p14="http://schemas.microsoft.com/office/powerpoint/2010/main" val="420884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5F6C8A-BC93-40E3-A625-2AA6D238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718A-4B89-4E62-9984-1DF8EA1B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PROJECTE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77928-EBB5-4AEA-9380-151E4F00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La teva pàgina ha de contenir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FDDD1-6D38-4E76-B798-16655D1F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24ACB-376E-40BD-AC86-E4F9720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FBD71-C74D-4305-A0C6-60422D38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30FAA-47D7-4F72-A7FD-57C2996E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CE551-ED83-4034-BB70-F4267D9E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13716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26B57-BE99-4B0C-AE22-39AAE823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89954-94D7-4F95-A8A4-8F510E1C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1 h1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D676B-6328-4CFD-A2BA-310CBE05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Nom de la pàgina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87EFA-4FF6-4762-BC97-409C0F7F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A1DCC-EDE8-4826-8182-8317839F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533400" cy="13716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29DDA-FE94-4D20-9D56-3C436414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12F2C-4694-42E8-A7D2-62709349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2 h2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20883-E423-4B43-A419-B8201696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Seccions diferents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3692B-EE7B-4912-9828-07120C8F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C3ADE-6F12-462A-89D5-3BB81D49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533400" cy="13716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F176F-71D4-4B77-97EB-04CC4694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1EFBC-F890-4466-96BC-C48A37D0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3 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92766-40A7-462A-B136-5951C24E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Text que explica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13A35-8EEC-43C7-80FC-5314BB07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4B8BF-3678-4443-B05F-0C4A628F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33400" cy="13716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86385-2231-4694-84DB-76A08F38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FAAA7-0F1C-44CB-BD61-C890E1AD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strong + 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7ABF2-52AE-4254-A487-9A21B7D7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Èmfasi justificat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364FF-4C95-4B5F-946D-3F9715E5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491AB-DDE2-4AF2-B469-478E17AD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533400" cy="13716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FBA3B5-A3B8-431D-92F8-4E6EE14A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A7F21-CFA0-4F65-9FBB-FF8403A8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623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2 comentaris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E7338A-37F1-40C3-A45D-4A106B68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624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Notes realment útils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C27187-05FF-41CF-9D2B-0F95C92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7EE73-5BD6-45CE-B24E-DD730E9A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533400" cy="13716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33E9F1-BE9A-4579-BB76-C9CDBB4D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B0F8E8-ABFF-4D69-A261-C5DB332A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Indentació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319D49-A03A-451D-A369-374E0DA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Codi llegible</a:t>
            </a:r>
          </a:p>
        </p:txBody>
      </p:sp>
    </p:spTree>
    <p:extLst>
      <p:ext uri="{BB962C8B-B14F-4D97-AF65-F5344CB8AC3E}">
        <p14:creationId xmlns:p14="http://schemas.microsoft.com/office/powerpoint/2010/main" val="667362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C5883-4E7B-4DE2-A862-585C9F5C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1FAE2-3E89-4C8B-80DA-EF4646F9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REPTE DE DEPURACIÓ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36EBE-35DF-4502-AC04-DA9411B7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PixelFest ha perdut la jerarquia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B84FE-70F7-4711-B31A-4EDB068C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579F3-6873-4AB1-B828-C91485A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CA3CB-BA06-4384-81B8-6384752C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FB455-F67E-41DC-8455-4B1CDB1C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71500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E9BD1-F844-493B-A6E1-92CA83B7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13ED7-E055-49BF-ACFD-E659FDB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52578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&lt;h1&gt;PixelFest&lt;/h1&gt;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&lt;h3&gt;Tallers&lt;/h3&gt;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&lt;p&gt;Aprèn 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&lt;strong&gt;Places limitades&lt;/p&gt;&lt;/strong&gt;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&lt;h2&gt;Informació&lt;/h2&gt;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&lt;!-- text --&gt;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8222C-8932-408A-921B-5AE6E928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4762500" cy="3409950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C6313-C1D6-42E3-88A6-3CFB459D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CFF"/>
                </a:solidFill>
              </a:defRPr>
            </a:pPr>
            <a:r>
              <a:rPr sz="1350" b="1">
                <a:solidFill>
                  <a:srgbClr val="6E5CFF"/>
                </a:solidFill>
              </a:rPr>
              <a:t>TROBA I CORREGEIX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0CA20-3783-46AF-94EC-D69A3AFA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32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1. Salt de jerarquia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2. Paràgraf sense tancar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3. Etiquetes mal niades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4. Comentari poc útil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AC36F-7A35-445B-8BEF-688F20A8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3581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35738-A74D-4DE8-A493-A94AE70A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33925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PRIMER DIAGNOSTICA · DESPRÉS EDITA</a:t>
            </a:r>
          </a:p>
        </p:txBody>
      </p:sp>
    </p:spTree>
    <p:extLst>
      <p:ext uri="{BB962C8B-B14F-4D97-AF65-F5344CB8AC3E}">
        <p14:creationId xmlns:p14="http://schemas.microsoft.com/office/powerpoint/2010/main" val="17457138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0DFFF-4CB7-4470-8FDF-F94C2C5D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3C94B-6BFF-47DB-A799-8FE3826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LLIURAMENT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ADF41-9275-40DE-A585-5FE65BE2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Una carpeta clara, una explicació breu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2F158-4D46-47F6-9B5B-24C2E392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04203-7545-4CB3-B432-5A4370E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8D80D-D5D8-4158-BD07-6EFB101B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9A6D0-03BC-4E10-9E3C-AEAD3D9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9530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A772D-0E80-44DD-9714-9DE73D8D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28826-0454-4F79-AB1E-2B5D611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495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cognom_nom_AEA2_S2.zip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index.html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 registre.txt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483BF-03D5-4884-9BBB-F0111E5D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71650"/>
            <a:ext cx="54864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6C500-1DF7-4786-9B98-0CEAE01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CFF"/>
                </a:solidFill>
              </a:defRPr>
            </a:pPr>
            <a:r>
              <a:rPr sz="1350" b="1">
                <a:solidFill>
                  <a:srgbClr val="6E5CFF"/>
                </a:solidFill>
              </a:rPr>
              <a:t>REGISTRE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39BAE-8EA6-434E-A683-4F3C0FCC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51D"/>
                </a:solidFill>
              </a:defRPr>
            </a:pPr>
            <a:r>
              <a:rPr sz="1800" b="0">
                <a:solidFill>
                  <a:srgbClr val="10151D"/>
                </a:solidFill>
              </a:rPr>
              <a:t>Explica tres decisions: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151D"/>
                </a:solidFill>
              </a:defRPr>
            </a:pPr>
            <a:r>
              <a:rPr sz="1800" b="0">
                <a:solidFill>
                  <a:srgbClr val="10151D"/>
                </a:solidFill>
              </a:rPr>
              <a:t>• un encapçalament</a:t>
            </a:r>
          </a:p>
          <a:p xmlns:a="http://schemas.openxmlformats.org/drawingml/2006/main">
            <a:pPr algn="l">
              <a:defRPr sz="1800" b="0">
                <a:solidFill>
                  <a:srgbClr val="10151D"/>
                </a:solidFill>
              </a:defRPr>
            </a:pPr>
            <a:r>
              <a:rPr sz="1800" b="0">
                <a:solidFill>
                  <a:srgbClr val="10151D"/>
                </a:solidFill>
              </a:rPr>
              <a:t>• un èmfasi</a:t>
            </a:r>
          </a:p>
          <a:p xmlns:a="http://schemas.openxmlformats.org/drawingml/2006/main">
            <a:pPr algn="l">
              <a:defRPr sz="1800" b="0">
                <a:solidFill>
                  <a:srgbClr val="10151D"/>
                </a:solidFill>
              </a:defRPr>
            </a:pPr>
            <a:r>
              <a:rPr sz="1800" b="0">
                <a:solidFill>
                  <a:srgbClr val="10151D"/>
                </a:solidFill>
              </a:rPr>
              <a:t>• un comentari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BF245-8F63-43A6-8FC3-6988E4CC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95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DB755-C227-4908-9C7C-59913177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10100"/>
            <a:ext cx="712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Acaba: «La jerarquia ajuda perquè…»</a:t>
            </a:r>
          </a:p>
        </p:txBody>
      </p:sp>
    </p:spTree>
    <p:extLst>
      <p:ext uri="{BB962C8B-B14F-4D97-AF65-F5344CB8AC3E}">
        <p14:creationId xmlns:p14="http://schemas.microsoft.com/office/powerpoint/2010/main" val="716383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2026-09-04T12:28:03.0120000Z</dcterms:created>
  <dcterms:modified xsi:type="dcterms:W3CDTF">2026-09-04T12:28:03.0120000Z</dcterms:modified>
</coreProperties>
</file>