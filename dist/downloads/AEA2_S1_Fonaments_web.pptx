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821ba1fbfa47df" /><Relationship Type="http://schemas.openxmlformats.org/officeDocument/2006/relationships/extended-properties" Target="/docProps/app.xml" Id="R8928f5ef23c946bc" /><Relationship Type="http://schemas.openxmlformats.org/officeDocument/2006/relationships/officeDocument" Target="/ppt/presentation.xml" Id="R972d559d84dc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fd8dc2f2234b22"/>
  </p:sldMasterIdLst>
  <p:notesMasterIdLst>
    <p:notesMasterId xmlns:r="http://schemas.openxmlformats.org/officeDocument/2006/relationships" r:id="R955632a358fb4174"/>
  </p:notesMasterIdLst>
  <p:sldIdLst>
    <p:sldId xmlns:r="http://schemas.openxmlformats.org/officeDocument/2006/relationships" id="256" r:id="R08dc2b2d7c2c4af3"/>
    <p:sldId xmlns:r="http://schemas.openxmlformats.org/officeDocument/2006/relationships" id="257" r:id="Rbc58b6a6a6a641ca"/>
    <p:sldId xmlns:r="http://schemas.openxmlformats.org/officeDocument/2006/relationships" id="258" r:id="R71cf27bc9d8f4566"/>
    <p:sldId xmlns:r="http://schemas.openxmlformats.org/officeDocument/2006/relationships" id="259" r:id="Ra181990a8e00440f"/>
    <p:sldId xmlns:r="http://schemas.openxmlformats.org/officeDocument/2006/relationships" id="260" r:id="Re1982a5b33e1402a"/>
    <p:sldId xmlns:r="http://schemas.openxmlformats.org/officeDocument/2006/relationships" id="261" r:id="Rbaeb19a8089b4dda"/>
    <p:sldId xmlns:r="http://schemas.openxmlformats.org/officeDocument/2006/relationships" id="262" r:id="Rb1a1e1ef14e34934"/>
    <p:sldId xmlns:r="http://schemas.openxmlformats.org/officeDocument/2006/relationships" id="263" r:id="R25e7c9c08def4b34"/>
    <p:sldId xmlns:r="http://schemas.openxmlformats.org/officeDocument/2006/relationships" id="264" r:id="R918edd1c97594115"/>
    <p:sldId xmlns:r="http://schemas.openxmlformats.org/officeDocument/2006/relationships" id="265" r:id="R410ad95a756e43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1660de76aa4f47" /><Relationship Type="http://schemas.openxmlformats.org/officeDocument/2006/relationships/slideMaster" Target="/ppt/slideMasters/slideMaster1.xml" Id="R79fd8dc2f2234b22" /><Relationship Type="http://schemas.openxmlformats.org/officeDocument/2006/relationships/notesMaster" Target="/ppt/notesMasters/notesMaster1.xml" Id="R955632a358fb4174" /><Relationship Type="http://schemas.openxmlformats.org/officeDocument/2006/relationships/presProps" Target="/ppt/presProps.xml" Id="R5a2aa99784574f03" /><Relationship Type="http://schemas.openxmlformats.org/officeDocument/2006/relationships/tableStyles" Target="/ppt/tableStyles.xml" Id="Rad68b769804d477b" /><Relationship Type="http://schemas.openxmlformats.org/officeDocument/2006/relationships/slide" Target="/ppt/slides/slide1.xml" Id="R08dc2b2d7c2c4af3" /><Relationship Type="http://schemas.openxmlformats.org/officeDocument/2006/relationships/slide" Target="/ppt/slides/slide2.xml" Id="Rbc58b6a6a6a641ca" /><Relationship Type="http://schemas.openxmlformats.org/officeDocument/2006/relationships/slide" Target="/ppt/slides/slide3.xml" Id="R71cf27bc9d8f4566" /><Relationship Type="http://schemas.openxmlformats.org/officeDocument/2006/relationships/slide" Target="/ppt/slides/slide4.xml" Id="Ra181990a8e00440f" /><Relationship Type="http://schemas.openxmlformats.org/officeDocument/2006/relationships/slide" Target="/ppt/slides/slide5.xml" Id="Re1982a5b33e1402a" /><Relationship Type="http://schemas.openxmlformats.org/officeDocument/2006/relationships/slide" Target="/ppt/slides/slide6.xml" Id="Rbaeb19a8089b4dda" /><Relationship Type="http://schemas.openxmlformats.org/officeDocument/2006/relationships/slide" Target="/ppt/slides/slide7.xml" Id="Rb1a1e1ef14e34934" /><Relationship Type="http://schemas.openxmlformats.org/officeDocument/2006/relationships/slide" Target="/ppt/slides/slide8.xml" Id="R25e7c9c08def4b34" /><Relationship Type="http://schemas.openxmlformats.org/officeDocument/2006/relationships/slide" Target="/ppt/slides/slide9.xml" Id="R918edd1c97594115" /><Relationship Type="http://schemas.openxmlformats.org/officeDocument/2006/relationships/slide" Target="/ppt/slides/slide10.xml" Id="R410ad95a756e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34d32f46a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4a7dd134e94dff" /><Relationship Type="http://schemas.openxmlformats.org/officeDocument/2006/relationships/notesMaster" Target="/ppt/notesMasters/notesMaster1.xml" Id="Rf4625f16e95646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6d4b65b86b4b51" /><Relationship Type="http://schemas.openxmlformats.org/officeDocument/2006/relationships/notesMaster" Target="/ppt/notesMasters/notesMaster1.xml" Id="R81ac6c001fad42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e7ec20aeca492f" /><Relationship Type="http://schemas.openxmlformats.org/officeDocument/2006/relationships/notesMaster" Target="/ppt/notesMasters/notesMaster1.xml" Id="R851ba4628f25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c3501e213b46e9" /><Relationship Type="http://schemas.openxmlformats.org/officeDocument/2006/relationships/notesMaster" Target="/ppt/notesMasters/notesMaster1.xml" Id="Rac6e298d5a69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c9bc98ab254fa5" /><Relationship Type="http://schemas.openxmlformats.org/officeDocument/2006/relationships/notesMaster" Target="/ppt/notesMasters/notesMaster1.xml" Id="R7c923514211348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f2861ad7d64b0f" /><Relationship Type="http://schemas.openxmlformats.org/officeDocument/2006/relationships/notesMaster" Target="/ppt/notesMasters/notesMaster1.xml" Id="Re4cbf68e3f8248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6919638254a53" /><Relationship Type="http://schemas.openxmlformats.org/officeDocument/2006/relationships/notesMaster" Target="/ppt/notesMasters/notesMaster1.xml" Id="Rb344574bf54e44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5ae0d246554821" /><Relationship Type="http://schemas.openxmlformats.org/officeDocument/2006/relationships/notesMaster" Target="/ppt/notesMasters/notesMaster1.xml" Id="R1648781c535741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466d82b8c43d6" /><Relationship Type="http://schemas.openxmlformats.org/officeDocument/2006/relationships/notesMaster" Target="/ppt/notesMasters/notesMaster1.xml" Id="R9c7586eb31334a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0a9b19edf147ab" /><Relationship Type="http://schemas.openxmlformats.org/officeDocument/2006/relationships/notesMaster" Target="/ppt/notesMasters/notesMaster1.xml" Id="R514b09b2794b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Presenta-ho com un mapa mental breu. No cal memoritzar dates: cal entendre les relacions.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https://home.cern/science/computing/birth-web/short-history-web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Pregunta: «Si desaparegués la Web, Internet també desapareixeria?» Escolta hipòtesis abans de revelar la resposta.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https://www.w3.org/People/Berners-Lee/FAQ.html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converteixis la diapositiva en una lliçó cronològica. Idea clau: la Web neix per connectar i compartir informació.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https://home.cern/science/computing/birth-web/short-history-web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Fes que quatre alumnes representin els passos. Insisteix que «client» és el programa que demana, habitualment el navegador.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https://developer.mozilla.org/en-US/docs/Learn_web_development/Getting_started/Web_standards/How_the_web_works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Pregunta: «El servidor sap exactament com es veurà la pàgina al vostre ordinador?» Connecta amb el paper del navegador.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https://developer.mozilla.org/en-US/docs/Learn_web_development/Getting_started/Web_standards/How_the_web_works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un fitxer local i una web real. L’objectiu és que verbalitzin la diferència entre crear, obrir i publicar.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 l’arbre de carpetes amb els criteris d’organització de fitxers de l’RA2. No cal publicar encara.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l’AEA2 treballarem HTML; CSS arribarà a l’AEA3. JavaScript només es menciona per entendre el mapa, no s’ensenya aquí.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https://www.w3.org/standards/webdesign/htmlcss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Demana un exemple conegut de cada tipus. Accepta classificacions discutibles si l’alumne justifica què observa.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https://developer.mozilla.org/en-US/docs/Learn_web_development/Getting_started/Your_first_website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Fes resposta coral de les tres preguntes. Tot seguit obre la pestanya «Missió» de la sessió 1 i passa a l’exemple pràctic.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https://developer.mozilla.org/en-US/docs/Learn_web_development/Getting_started/Your_first_website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8edc8e0d34c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034092df2241a9" /><Relationship Type="http://schemas.openxmlformats.org/officeDocument/2006/relationships/slideLayout" Target="/ppt/slideLayouts/slideLayout1.xml" Id="R65daae6fbbc04a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aae6fbbc04a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7d78994ff4985" /><Relationship Type="http://schemas.openxmlformats.org/officeDocument/2006/relationships/notesSlide" Target="/ppt/notesSlides/notesSlide1.xml" Id="R25be3b9fc09740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74e7183ef4688" /><Relationship Type="http://schemas.openxmlformats.org/officeDocument/2006/relationships/notesSlide" Target="/ppt/notesSlides/notesSlide2.xml" Id="R3d26089207664e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ae20619dc4d71" /><Relationship Type="http://schemas.openxmlformats.org/officeDocument/2006/relationships/notesSlide" Target="/ppt/notesSlides/notesSlide3.xml" Id="R6192001073144d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78b5942be4db9" /><Relationship Type="http://schemas.openxmlformats.org/officeDocument/2006/relationships/notesSlide" Target="/ppt/notesSlides/notesSlide4.xml" Id="R07748298506242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a045d1393415b" /><Relationship Type="http://schemas.openxmlformats.org/officeDocument/2006/relationships/notesSlide" Target="/ppt/notesSlides/notesSlide5.xml" Id="Rf2d7477e84c844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12468f368442c" /><Relationship Type="http://schemas.openxmlformats.org/officeDocument/2006/relationships/notesSlide" Target="/ppt/notesSlides/notesSlide6.xml" Id="R71d95c0920a54d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38d421351455c" /><Relationship Type="http://schemas.openxmlformats.org/officeDocument/2006/relationships/notesSlide" Target="/ppt/notesSlides/notesSlide7.xml" Id="R8e43ff4a3e224b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8b8d48ea24bfa" /><Relationship Type="http://schemas.openxmlformats.org/officeDocument/2006/relationships/notesSlide" Target="/ppt/notesSlides/notesSlide8.xml" Id="R4eacd060bdac4d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e46c2bc7541d8" /><Relationship Type="http://schemas.openxmlformats.org/officeDocument/2006/relationships/notesSlide" Target="/ppt/notesSlides/notesSlide9.xml" Id="R18725234d93c4b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20ce703154189" /><Relationship Type="http://schemas.openxmlformats.org/officeDocument/2006/relationships/notesSlide" Target="/ppt/notesSlides/notesSlide10.xml" Id="Rca0a922c27db41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42525-ED4E-42FC-8F1B-93DAD46E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6C2A0-80F2-4614-B24E-8C5C80E8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3AC4C-A812-475C-B3E9-03D17269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FONAMENTS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5FE59-05B0-4F1E-AFBA-0A96594C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7D0"/>
                </a:solidFill>
              </a:defRPr>
            </a:pPr>
            <a:r>
              <a:rPr sz="1125" b="1">
                <a:solidFill>
                  <a:srgbClr val="25D7D0"/>
                </a:solidFill>
              </a:rPr>
              <a:t>AEA2 · SESSIÓ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EE8FC-DC92-4672-B9E4-CE0EB905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71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Abans de l’HTML, entén la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BBEDB-0FAF-40AC-8C14-21ABFFE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CE3"/>
                </a:solidFill>
              </a:defRPr>
            </a:pPr>
            <a:r>
              <a:rPr sz="1875" b="0">
                <a:solidFill>
                  <a:srgbClr val="D7DCE3"/>
                </a:solidFill>
              </a:rPr>
              <a:t>10 pantalles per saber d’on ve la Web, on viuen els fitxers i què passa quan escrius una URL.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7ECC6-2A17-4BB5-9497-90D4E8E9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714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400" b="1">
                <a:solidFill>
                  <a:srgbClr val="10151D"/>
                </a:solidFill>
              </a:defRPr>
            </a:pPr>
            <a:r>
              <a:rPr sz="11400" b="1">
                <a:solidFill>
                  <a:srgbClr val="10151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00A02-19C0-4C36-A11D-29EB718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51D"/>
                </a:solidFill>
              </a:defRPr>
            </a:pPr>
            <a:r>
              <a:rPr sz="1125" b="1">
                <a:solidFill>
                  <a:srgbClr val="10151D"/>
                </a:solidFill>
              </a:rPr>
              <a:t>LÒGICA I PROGRAMACIÓ</a:t>
            </a:r>
          </a:p>
        </p:txBody>
      </p:sp>
    </p:spTree>
    <p:extLst>
      <p:ext uri="{BB962C8B-B14F-4D97-AF65-F5344CB8AC3E}">
        <p14:creationId xmlns:p14="http://schemas.microsoft.com/office/powerpoint/2010/main" val="920666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4A777-2430-4BF5-8475-8B37235F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37E28-3A82-433B-A73F-BCD87BE7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UNA CONFUSIÓ HABITUAL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45579-C75C-4B0C-BBCF-40ECB00C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Internet i la Web no són el mateix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23C8F-4255-4612-B1E2-2501C612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0475C-592C-4E04-9015-DD2E9723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48C8B-A11D-481A-855E-095D90A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2E49B-193A-4B73-8068-E0BE57C8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D896C-03BD-4E76-A145-6D69C60F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EFD84-82AE-4BFA-9C48-1BCC14AA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5CFF"/>
                </a:solidFill>
              </a:defRPr>
            </a:pPr>
            <a:r>
              <a:rPr sz="975" b="1">
                <a:solidFill>
                  <a:srgbClr val="6E5CFF"/>
                </a:solidFill>
              </a:rPr>
              <a:t>INFRAESTRUCTURA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D3D0E-EE82-482A-994B-CFE5F9C7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51D"/>
                </a:solidFill>
              </a:defRPr>
            </a:pPr>
            <a:r>
              <a:rPr sz="3000" b="1">
                <a:solidFill>
                  <a:srgbClr val="10151D"/>
                </a:solidFill>
              </a:rPr>
              <a:t>INTERNET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22962-54CD-4A44-9BA2-E3F7F51F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17D"/>
                </a:solidFill>
              </a:defRPr>
            </a:pPr>
            <a:r>
              <a:rPr sz="1875" b="0">
                <a:solidFill>
                  <a:srgbClr val="68717D"/>
                </a:solidFill>
              </a:rPr>
              <a:t>La xarxa que connecta dispositius i transporta dades.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FA205-5CC1-42A1-8150-5081FFE1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D"/>
                </a:solidFill>
              </a:defRPr>
            </a:pPr>
            <a:r>
              <a:rPr sz="1350" b="0">
                <a:solidFill>
                  <a:srgbClr val="68717D"/>
                </a:solidFill>
              </a:rPr>
              <a:t>També serveix per al correu, els jocs o la missatgeria.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13B9E-FF3C-4020-B07C-6EF02BA3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102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F0F36-0E3A-4FCC-B718-65CA1E19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FD307-7602-4983-B546-BE205D3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97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UN SERVEI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BD2D0-6C94-47AF-A5E4-720A41E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WORLD WIDE 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7CFEB-E757-440F-96A9-805103F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DCE3"/>
                </a:solidFill>
              </a:defRPr>
            </a:pPr>
            <a:r>
              <a:rPr sz="1875" b="0">
                <a:solidFill>
                  <a:srgbClr val="D7DCE3"/>
                </a:solidFill>
              </a:rPr>
              <a:t>Documents i recursos enllaçats que consultem amb un navegador.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7A6F9-9136-4946-A7D9-1A85D5E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053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D7D0"/>
                </a:solidFill>
              </a:defRPr>
            </a:pPr>
            <a:r>
              <a:rPr sz="1350" b="1">
                <a:solidFill>
                  <a:srgbClr val="25D7D0"/>
                </a:solidFill>
              </a:rPr>
              <a:t>La Web utilitza Internet per funcionar.</a:t>
            </a:r>
          </a:p>
        </p:txBody>
      </p:sp>
    </p:spTree>
    <p:extLst>
      <p:ext uri="{BB962C8B-B14F-4D97-AF65-F5344CB8AC3E}">
        <p14:creationId xmlns:p14="http://schemas.microsoft.com/office/powerpoint/2010/main" val="1115269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D4AFC-9192-4E03-9446-67FA7DEF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40B23-CE93-4BB9-BFDC-B3164AE8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HISTÒRIA EN TRES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8E361-A7EA-4BDC-A78A-5E167BF6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Una idea per compartir informació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9E12F-ED38-4697-B8F9-91C0246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7E912-B046-4C87-93A9-3351245C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68094-9E3A-4DAF-BBDA-3A7DB1DE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4355D-FD10-4FDD-8675-5551DFAA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904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771E4-6DDC-4732-93EF-A654E58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813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F35E2-B6F5-4FFA-ABCE-0928EE68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1989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4AA3E-0C8F-4D4C-82BF-8F354CA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5CFF"/>
                </a:solidFill>
              </a:defRPr>
            </a:pPr>
            <a:r>
              <a:rPr sz="1650" b="1">
                <a:solidFill>
                  <a:srgbClr val="6E5CFF"/>
                </a:solidFill>
              </a:rPr>
              <a:t>La proposta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60636-8D9B-4FDA-86AB-063D817F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17D"/>
                </a:solidFill>
              </a:defRPr>
            </a:pPr>
            <a:r>
              <a:rPr sz="1350" b="0">
                <a:solidFill>
                  <a:srgbClr val="68717D"/>
                </a:solidFill>
              </a:rPr>
              <a:t>Tim Berners-Lee proposa al CERN unir documents mitjançant enllaços.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E88FE-A4D2-47DA-8A8D-123897C4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85CF0-3947-451F-BD77-9637BB3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1990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F5957-2797-4C3E-8339-D0AF9BA3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5CFF"/>
                </a:solidFill>
              </a:defRPr>
            </a:pPr>
            <a:r>
              <a:rPr sz="1650" b="1">
                <a:solidFill>
                  <a:srgbClr val="6E5CFF"/>
                </a:solidFill>
              </a:rPr>
              <a:t>Les peces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1AAFA-D364-4FDE-A36D-5C9C116E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576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17D"/>
                </a:solidFill>
              </a:defRPr>
            </a:pPr>
            <a:r>
              <a:rPr sz="1350" b="0">
                <a:solidFill>
                  <a:srgbClr val="68717D"/>
                </a:solidFill>
              </a:rPr>
              <a:t>Arriben el primer servidor, el navegador/editor i el primer lloc web.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81393-CDE6-4CD5-8B66-832C2F8C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A0048-1AB3-4DA4-A96B-021A06F1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1991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E5B2F-A1F1-400C-9BD7-29C4679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5CFF"/>
                </a:solidFill>
              </a:defRPr>
            </a:pPr>
            <a:r>
              <a:rPr sz="1650" b="1">
                <a:solidFill>
                  <a:srgbClr val="6E5CFF"/>
                </a:solidFill>
              </a:rPr>
              <a:t>La Web s’obre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FD016-1ECF-4C7C-AEF3-279D9D0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5765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17D"/>
                </a:solidFill>
              </a:defRPr>
            </a:pPr>
            <a:r>
              <a:rPr sz="1350" b="0">
                <a:solidFill>
                  <a:srgbClr val="68717D"/>
                </a:solidFill>
              </a:rPr>
              <a:t>El projecte es dona a conèixer fora del CERN i comença a créixer.</a:t>
            </a:r>
          </a:p>
        </p:txBody>
      </p:sp>
    </p:spTree>
    <p:extLst>
      <p:ext uri="{BB962C8B-B14F-4D97-AF65-F5344CB8AC3E}">
        <p14:creationId xmlns:p14="http://schemas.microsoft.com/office/powerpoint/2010/main" val="670820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2B7B43-F5B3-4810-A8D8-EA5B84D0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A3266-1647-442B-914B-C3B428CF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CLIENT I SERVIDOR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54E83-ACE0-4301-A374-2BEA34FC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Què passa quan escrius una URL?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7CA85-FD00-4C13-9ADC-B42E3A2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3D292-B827-4F31-BCB8-D6A1D4BF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134FC-909D-4144-BE19-72736FA6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9B7A5-3022-4120-A418-55FC0F33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428875" cy="27241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EB879-2B97-4729-A0C7-A6098B89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33400" cy="27241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3F44E-CD84-41B4-AD93-B1ED85C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B5F91-E988-4D7E-8EF6-2E87EC61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DEMANES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907EE-C77E-4084-B1D6-F1321D5A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14954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El navegador envia una petició.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ED356-EDB5-428B-A972-93DF1398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575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E5CFF"/>
                </a:solidFill>
              </a:defRPr>
            </a:pPr>
            <a:r>
              <a:rPr sz="2700" b="1">
                <a:solidFill>
                  <a:srgbClr val="6E5C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AD67E-117B-40D0-9319-E124B792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66900"/>
            <a:ext cx="2428875" cy="27241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C85A1-131E-4391-A8E3-D3CE1F6E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66900"/>
            <a:ext cx="533400" cy="27241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083E3-A0C0-4397-943C-91D3051B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38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7377C-F0BA-445E-82B5-130B0895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383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BUSCA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5FB6D-DE5C-4F4E-836D-30785E47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38400"/>
            <a:ext cx="14954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El servidor localitza els fitxers.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19CFC-AF34-45FA-94C3-2D03F4EF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575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E5CFF"/>
                </a:solidFill>
              </a:defRPr>
            </a:pPr>
            <a:r>
              <a:rPr sz="2700" b="1">
                <a:solidFill>
                  <a:srgbClr val="6E5C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885D4-FD52-41BA-B270-DF06DD6E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2428875" cy="27241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CA146-3A94-45E5-84EF-632C30B8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533400" cy="27241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0615F-CF73-43CB-8F15-BA5C2256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83498-890C-4433-AB20-B21987B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RESPON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3CCAC-D60B-4AB3-9CD6-67BC279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4954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Envia HTML i altres recursos.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403D0-6B43-4844-B10B-D9C505A9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E5CFF"/>
                </a:solidFill>
              </a:defRPr>
            </a:pPr>
            <a:r>
              <a:rPr sz="2700" b="1">
                <a:solidFill>
                  <a:srgbClr val="6E5CFF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DE91E-40D3-4D05-8245-03256CAB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66900"/>
            <a:ext cx="2428875" cy="27241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DFBAF-8E22-490B-BBF7-5B6BCDD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66900"/>
            <a:ext cx="533400" cy="27241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7A20C5-769F-4D72-BA5D-344D3AEB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38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5FA60-2951-4628-B4EE-CC3C7C2A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38350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INTERPRETA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832213-C32D-4624-B520-EF172D5B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38400"/>
            <a:ext cx="14954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El navegador construeix la vista.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4A0EC-D391-4783-A1E2-41AB446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0728F-B3D6-4A0C-83AA-7A1B86FE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48250"/>
            <a:ext cx="691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51D"/>
                </a:solidFill>
              </a:defRPr>
            </a:pPr>
            <a:r>
              <a:rPr sz="2250" b="1">
                <a:solidFill>
                  <a:srgbClr val="10151D"/>
                </a:solidFill>
              </a:rPr>
              <a:t>Una URL posa en marxa una conversa.</a:t>
            </a:r>
          </a:p>
        </p:txBody>
      </p:sp>
    </p:spTree>
    <p:extLst>
      <p:ext uri="{BB962C8B-B14F-4D97-AF65-F5344CB8AC3E}">
        <p14:creationId xmlns:p14="http://schemas.microsoft.com/office/powerpoint/2010/main" val="1438369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22601-96F9-4229-AA0C-6BBC709A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924EC-0457-42B9-87E6-AF7740FD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IDEA CLAU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59ADE-9673-455B-AC0F-0EEDC25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El servidor no envia una captura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0C3CF-94C8-48C5-9D31-F369F001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E736C-DDC2-438D-BB66-13C01CA8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75573-0406-40B3-9A76-268E36F7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2CA66-02E0-4C63-9CD5-4714EAD3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47675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8B550-4EF4-4B07-A15F-346D12FF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D7D0"/>
                </a:solidFill>
              </a:defRPr>
            </a:pPr>
            <a:r>
              <a:rPr sz="1350" b="1">
                <a:solidFill>
                  <a:srgbClr val="25D7D0"/>
                </a:solidFill>
              </a:rPr>
              <a:t>SERVIDOR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C539B-F706-42B4-B12F-AB122245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5623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ECF5A-C321-41A8-A95D-623A2B23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F172E-B074-4154-BB64-C659D2FC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3105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index.html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logo.png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estils.css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7DD52-82D7-4BB6-B65B-7DB84408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FITXERS I DADES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0C3B9-F174-4238-A965-009585D6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838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6E5CFF"/>
                </a:solidFill>
              </a:defRPr>
            </a:pPr>
            <a:r>
              <a:rPr sz="4050" b="1">
                <a:solidFill>
                  <a:srgbClr val="6E5C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1C5ED-4B76-419A-A8C7-B682F526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508635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F7A97-27BC-4B1B-A914-31C86847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CFF"/>
                </a:solidFill>
              </a:defRPr>
            </a:pPr>
            <a:r>
              <a:rPr sz="1350" b="1">
                <a:solidFill>
                  <a:srgbClr val="6E5CFF"/>
                </a:solidFill>
              </a:rPr>
              <a:t>NAVEGADOR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D45A4-4D2D-4953-BCEA-3F5E253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2481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2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195F0-7BE3-4F37-BD4D-73C8191F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3486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151D"/>
                </a:solidFill>
              </a:defRPr>
            </a:pPr>
            <a:r>
              <a:rPr sz="2550" b="1">
                <a:solidFill>
                  <a:srgbClr val="10151D"/>
                </a:solidFill>
              </a:rPr>
              <a:t>INTERPRETA</a:t>
            </a:r>
          </a:p>
          <a:p xmlns:a="http://schemas.openxmlformats.org/drawingml/2006/main">
            <a:pPr algn="ctr">
              <a:defRPr sz="2550" b="1">
                <a:solidFill>
                  <a:srgbClr val="10151D"/>
                </a:solidFill>
              </a:defRPr>
            </a:pPr>
            <a:r>
              <a:rPr sz="2550" b="1">
                <a:solidFill>
                  <a:srgbClr val="10151D"/>
                </a:solidFill>
              </a:rPr>
              <a:t>I CONSTRUEIX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87483-7461-4B17-9DAF-DAAB8F9C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PÀGINA VISIBLE</a:t>
            </a:r>
          </a:p>
        </p:txBody>
      </p:sp>
    </p:spTree>
    <p:extLst>
      <p:ext uri="{BB962C8B-B14F-4D97-AF65-F5344CB8AC3E}">
        <p14:creationId xmlns:p14="http://schemas.microsoft.com/office/powerpoint/2010/main" val="780112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C4056-B4E9-40BA-90B6-EECD97AD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6C22F-ADD9-4E85-AC0A-10285069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UBICACIÓ DELS FITXERS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101EF-956C-4EEE-9786-0001A1CF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Local i publicat: el mateix document, dos llocs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70CA7-FD33-4BA4-AFC4-DF553F36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14021-2037-4A27-83AA-9FAE34B1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E1AFA-174F-436A-A19B-C848BB40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57265-8639-45B7-97F3-1C86295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9339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17E86-677F-451E-879C-BC0DD230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33400" cy="31242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A344F-8F24-4685-A162-40E94184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81ED0-2802-447B-BBE4-D122DB7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BAE9A-040A-466F-B330-C6F238C8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4000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El fitxer és al teu ordinador.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El pots obrir encara que no estigui publicat.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Exemple: Documents/projecte/index.html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9CA5F-889C-4E62-A652-0F539C36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71650"/>
            <a:ext cx="55435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41CA3-E0D1-46B1-A029-10E30F4C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71650"/>
            <a:ext cx="533400" cy="31242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57080-9776-4E7B-A967-774384CE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DEB1C-67F0-46E4-8D26-CE11773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PUBLICAT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8D5A3-9192-4328-BE15-77C9108A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46101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El fitxer és en un servidor accessible per xarxa.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Altres persones hi arriben amb una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Exemple: https://exemple.cat/index.html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3D0BA-4982-4C46-BEBA-0A44082B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19700"/>
            <a:ext cx="472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85CD7-7758-4E3E-80C7-BE38B1AD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673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MATEIX HTML · UBICACIÓ DIFERENT</a:t>
            </a:r>
          </a:p>
        </p:txBody>
      </p:sp>
    </p:spTree>
    <p:extLst>
      <p:ext uri="{BB962C8B-B14F-4D97-AF65-F5344CB8AC3E}">
        <p14:creationId xmlns:p14="http://schemas.microsoft.com/office/powerpoint/2010/main" val="163031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36767-7FF2-4E6D-B7C3-E10AFE14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D554A-FD3D-4022-AFB6-C1461B0B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ORGANITZACIÓ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126AD-A5AB-471A-83A3-0A4D6A13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index.html és la porta d’entrada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D99D6-7EB2-4305-82FC-9D6B9DB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63171-41F3-46ED-8A7B-174C0FE6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DCA70-0F3F-41FA-84EE-B0BF77A1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FDFA9-D2EF-493B-894C-F92896BC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053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BE7E1-8DAA-4FE7-96BF-883EBA1D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D7D0"/>
                </a:solidFill>
              </a:defRPr>
            </a:pPr>
            <a:r>
              <a:rPr sz="1950" b="1">
                <a:solidFill>
                  <a:srgbClr val="25D7D0"/>
                </a:solidFill>
              </a:rPr>
              <a:t>projecte/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C7D0E-64CB-43C3-A3F4-4E912D6C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361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├── index.html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├── imatges/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│   └── logo.png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└── documents/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  └── horari.pdf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F728C-CFDA-4B66-B667-BF795408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51D"/>
                </a:solidFill>
              </a:defRPr>
            </a:pPr>
            <a:r>
              <a:rPr sz="2400" b="1">
                <a:solidFill>
                  <a:srgbClr val="10151D"/>
                </a:solidFill>
              </a:rPr>
              <a:t>Noms curts. Sense accents. Sense espais.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CB132-9262-4E29-9548-9C39823D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48768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CDBB2-FB4A-432D-AB80-C472C554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533400" cy="1409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87713-C495-4FFF-A76B-2454DEBE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5978F-3A61-4B80-B422-4425FC99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PER QUÈ?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1B881-B172-4BC9-9716-28124C31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3943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Els enllaços funcionen millor i és més fàcil trobar cada recurs.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F7D3F-E61B-421A-AEDC-450CDCB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0060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E5CFF"/>
                </a:solidFill>
              </a:defRPr>
            </a:pPr>
            <a:r>
              <a:rPr sz="1575" b="1">
                <a:solidFill>
                  <a:srgbClr val="6E5CFF"/>
                </a:solidFill>
              </a:rPr>
              <a:t>Comença ordenat: després t’ho agrairàs.</a:t>
            </a:r>
          </a:p>
        </p:txBody>
      </p:sp>
    </p:spTree>
    <p:extLst>
      <p:ext uri="{BB962C8B-B14F-4D97-AF65-F5344CB8AC3E}">
        <p14:creationId xmlns:p14="http://schemas.microsoft.com/office/powerpoint/2010/main" val="1203215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D6627-E706-4A64-9C87-D02FFB2A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E78C1-B186-45CC-9326-E4142622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TRES LLENGUATGES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B1249-AD66-4E6F-9E9D-8638ADEC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El navegador interpreta capes diferents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DB667-A35F-43F4-B5BB-9029C869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CDA1D-7E4C-42EC-81A8-CB1EEB01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45315-694D-4913-B0DA-AB1ACAA5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9A4C0-6F02-4755-9CF6-ACB6AD68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766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D8CF2-E690-4D74-9F3C-446F4A31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76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9C7B2-2C1C-4F77-877E-5D411E73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E5CFF"/>
                </a:solidFill>
              </a:defRPr>
            </a:pPr>
            <a:r>
              <a:rPr sz="3450" b="1">
                <a:solidFill>
                  <a:srgbClr val="6E5CFF"/>
                </a:solidFill>
              </a:rPr>
              <a:t>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751D8-08F5-4929-95AD-D984C40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ESTRUCTURA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6DE2D-2DE2-49EA-B3AE-9D1DD9E2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17D"/>
                </a:solidFill>
              </a:defRPr>
            </a:pPr>
            <a:r>
              <a:rPr sz="1650" b="0">
                <a:solidFill>
                  <a:srgbClr val="68717D"/>
                </a:solidFill>
              </a:rPr>
              <a:t>Què hi ha i quin significat 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4B532-4FF7-4592-A5E8-C5ABF87D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2766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46E2C-90A1-4C4A-8738-805C94C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276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67497-DAA9-49AA-86DC-6B688EBB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D7D0"/>
                </a:solidFill>
              </a:defRPr>
            </a:pPr>
            <a:r>
              <a:rPr sz="3450" b="1">
                <a:solidFill>
                  <a:srgbClr val="25D7D0"/>
                </a:solidFill>
              </a:rPr>
              <a:t>CSS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700B5-541B-483E-A217-77135627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APARENÇA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93126-FB25-4440-857B-8F9FC24F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17D"/>
                </a:solidFill>
              </a:defRPr>
            </a:pPr>
            <a:r>
              <a:rPr sz="1650" b="0">
                <a:solidFill>
                  <a:srgbClr val="68717D"/>
                </a:solidFill>
              </a:rPr>
              <a:t>Com es presenta i s’adapta.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78A94-5D2C-4597-93B0-BC2BAD09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2766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B3D60-2E4C-4C8B-8B67-EE523E9C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276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13DDC-D890-4B67-945A-914F2334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9F43"/>
                </a:solidFill>
              </a:defRPr>
            </a:pPr>
            <a:r>
              <a:rPr sz="3450" b="1">
                <a:solidFill>
                  <a:srgbClr val="FF9F43"/>
                </a:solidFill>
              </a:rPr>
              <a:t>JS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509A3-462F-4E6E-9FC1-C2E52276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51D"/>
                </a:solidFill>
              </a:defRPr>
            </a:pPr>
            <a:r>
              <a:rPr sz="1350" b="1">
                <a:solidFill>
                  <a:srgbClr val="10151D"/>
                </a:solidFill>
              </a:rPr>
              <a:t>COMPORTAMENT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D7097-FB4E-4C1A-BE84-D08F6F77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17D"/>
                </a:solidFill>
              </a:defRPr>
            </a:pPr>
            <a:r>
              <a:rPr sz="1650" b="0">
                <a:solidFill>
                  <a:srgbClr val="68717D"/>
                </a:solidFill>
              </a:rPr>
              <a:t>Què passa quan interactues.</a:t>
            </a:r>
          </a:p>
        </p:txBody>
      </p:sp>
    </p:spTree>
    <p:extLst>
      <p:ext uri="{BB962C8B-B14F-4D97-AF65-F5344CB8AC3E}">
        <p14:creationId xmlns:p14="http://schemas.microsoft.com/office/powerpoint/2010/main" val="2776242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ECCF2B-56FB-4B47-A7DD-878B32B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AC3B2-7CC9-4C27-A9BA-535BFD96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MAPA DEL MÓN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80393-6532-43F0-A40F-424CF892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No totes les webs funcionen igual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2775F-4B83-4186-8646-E580D607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6DD00-CE63-4AF3-9FC6-013597BC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F19CF-A0FF-4A12-B531-5CE65555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86F7D-70BA-4E9C-AF18-005C0C2E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428875" cy="287655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6856-D678-4B53-9EC7-76486FE4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2261A-9BC9-485F-A440-715DE267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51D"/>
                </a:solidFill>
              </a:defRPr>
            </a:pPr>
            <a:r>
              <a:rPr sz="1575" b="1">
                <a:solidFill>
                  <a:srgbClr val="10151D"/>
                </a:solidFill>
              </a:rPr>
              <a:t>ESTÀTICA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C0D24-38C1-4267-AA48-8D23CCB5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Fitxers preparats</a:t>
            </a:r>
          </a:p>
          <a:p xmlns:a="http://schemas.openxmlformats.org/drawingml/2006/main">
            <a:pPr algn="l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Contingut estable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902A0-EF60-471A-929F-A8CA642A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2428875" cy="287655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853A0-85B9-4A1F-8D8B-371F4AF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955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1EA91-A1D4-422D-A49B-6A5A33E5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575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51D"/>
                </a:solidFill>
              </a:defRPr>
            </a:pPr>
            <a:r>
              <a:rPr sz="1575" b="1">
                <a:solidFill>
                  <a:srgbClr val="10151D"/>
                </a:solidFill>
              </a:rPr>
              <a:t>DINÀMICA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B122A-ACEE-49DF-9BDD-9C61782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671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Contingut generat</a:t>
            </a:r>
          </a:p>
          <a:p xmlns:a="http://schemas.openxmlformats.org/drawingml/2006/main">
            <a:pPr algn="l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Dades variables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2DCD4-8E3B-44E3-B688-15679136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2428875" cy="287655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42796-0280-402D-84FD-8A7926B1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26383-24F7-4EF5-A978-56103FA8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51D"/>
                </a:solidFill>
              </a:defRPr>
            </a:pPr>
            <a:r>
              <a:rPr sz="1575" b="1">
                <a:solidFill>
                  <a:srgbClr val="10151D"/>
                </a:solidFill>
              </a:rPr>
              <a:t>CMS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A382B-D15D-448F-80FD-52AB68C1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Edició amb gestor</a:t>
            </a:r>
          </a:p>
          <a:p xmlns:a="http://schemas.openxmlformats.org/drawingml/2006/main">
            <a:pPr algn="l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Ex.: WordPress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D0B5C-2D92-4FCD-804E-9943724C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47850"/>
            <a:ext cx="2428875" cy="287655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8B923-6781-4667-8CD8-4A4D770E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955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51D"/>
                </a:solidFill>
              </a:defRPr>
            </a:pPr>
            <a:r>
              <a:rPr sz="2700" b="1">
                <a:solidFill>
                  <a:srgbClr val="10151D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34CBE-EBA7-4FDA-9950-FBD3CACD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575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51D"/>
                </a:solidFill>
              </a:defRPr>
            </a:pPr>
            <a:r>
              <a:rPr sz="1575" b="1">
                <a:solidFill>
                  <a:srgbClr val="10151D"/>
                </a:solidFill>
              </a:rPr>
              <a:t>APLICACIÓ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9DC39-9E30-4720-B02C-4DED8A3D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6710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Interacció intensa</a:t>
            </a:r>
          </a:p>
          <a:p xmlns:a="http://schemas.openxmlformats.org/drawingml/2006/main">
            <a:pPr algn="l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Ex.: correu web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CDE5F-7FBB-4B2E-A4DE-B05E3524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05400"/>
            <a:ext cx="560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E037D-C592-4278-9F10-7DB0EF1C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53025"/>
            <a:ext cx="541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A L’AEA2 COMENCEM PER UNA WEB ESTÀTICA</a:t>
            </a:r>
          </a:p>
        </p:txBody>
      </p:sp>
    </p:spTree>
    <p:extLst>
      <p:ext uri="{BB962C8B-B14F-4D97-AF65-F5344CB8AC3E}">
        <p14:creationId xmlns:p14="http://schemas.microsoft.com/office/powerpoint/2010/main" val="123644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47CE9-D116-46B1-BBC0-919DC914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18C6C-17F8-4AEF-97ED-24E5CABB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TANCA I CONNECTA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7C618-2D7F-4BFB-8F21-D03D3709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Tres preguntes abans de començar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ECA22-1BC3-4D5D-AF26-949422F9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4146F-6F84-4710-B66E-6F77670C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29C7A-D6D6-455F-AD44-FC7E2BAC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Arquitectes de la informació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699B6-AF32-4ACE-A7D3-472DB49E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B06F7-B992-4D41-A895-7B491ADD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1028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D1343-F162-4DAB-AB49-6EAD9C71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D6A53-E6F8-4134-B1A2-524D10A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988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17D28-CCA6-4B5B-B4E9-D5E47AD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88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On és el fitxer: al teu ordinador o en un servidor?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7E397-379B-4E3B-8F82-5799078D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E660D-2E6D-4BD2-92DA-ADFDEE4F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33400" cy="1028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4B4D8-5077-4C48-AFDC-343E52E0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7E275-ED22-43D1-B869-8B15814E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988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QUI?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B8A29-F262-46B1-A52E-CF7F175B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988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Qui demana, qui respon i qui interpreta?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9A202-374B-4ACA-ACB2-4610A2E5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4ED60-A047-4DD9-9285-EC76875F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33400" cy="1028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E396A-3895-4FF6-AE64-97571C06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9B66D-D563-4A58-B4A4-237490BC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988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51D"/>
                </a:solidFill>
              </a:defRPr>
            </a:pPr>
            <a:r>
              <a:rPr sz="1650" b="1">
                <a:solidFill>
                  <a:srgbClr val="10151D"/>
                </a:solidFill>
              </a:rPr>
              <a:t>QUÈ?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D1921-EBFA-477D-81E4-F66CA35E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88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Què defineix HTML: l’estructura, l’aparença o el comportament?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AD2FF-FA40-498A-AB54-233B987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524500"/>
            <a:ext cx="5029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CBCF5-C744-45A6-B548-9C121836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72125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ARA SÍ: CREA EL TEU PRIMER index.html</a:t>
            </a:r>
          </a:p>
        </p:txBody>
      </p:sp>
    </p:spTree>
    <p:extLst>
      <p:ext uri="{BB962C8B-B14F-4D97-AF65-F5344CB8AC3E}">
        <p14:creationId xmlns:p14="http://schemas.microsoft.com/office/powerpoint/2010/main" val="144019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2026-09-04T12:28:01.5660000Z</dcterms:created>
  <dcterms:modified xsi:type="dcterms:W3CDTF">2026-09-04T12:28:01.5660000Z</dcterms:modified>
</coreProperties>
</file>